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摘要" id="{8d3207bc-49a6-8cd0-d3a5-3e4b37c4938c}">
          <p14:sldIdLst>
            <p14:sldId id="256"/>
            <p14:sldId id="257"/>
          </p14:sldIdLst>
        </p14:section>
        <p14:section name="架構與流程" id="{344a9262-0912-9a0c-a04d-0e198a0440ed}">
          <p14:sldIdLst>
            <p14:sldId id="258"/>
            <p14:sldId id="259"/>
            <p14:sldId id="260"/>
          </p14:sldIdLst>
        </p14:section>
        <p14:section name="狀態與時程" id="{50deff08-1117-3345-5cd1-d83b1205e84c}">
          <p14:sldIdLst>
            <p14:sldId id="261"/>
            <p14:sldId id="262"/>
            <p14:sldId id="263"/>
          </p14:sldIdLst>
        </p14:section>
        <p14:section name="決策" id="{4c45ac5d-667c-fd35-87b2-6ead3569f88d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8FA3C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105156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2976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6D0E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3C2"/>
                </a:solidFill>
              </a:rPr>
              <a:t>WEEKLY STATUS  ·  2026-10-17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Build Server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容器化編譯環境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297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6D0E0"/>
                </a:solidFill>
              </a:rPr>
              <a:t>Telink TL322X 與 Nordic nRF54L 已容器化並驗證可重現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6D0E0"/>
                </a:solidFill>
              </a:rPr>
              <a:t>下一步:實體 Build Server 部署、GitHub Actions CI、HSM 簽章</a:t>
            </a:r>
            <a:endParaRPr lang="en-US" sz="2000" dirty="0"/>
          </a:p>
        </p:txBody>
      </p:sp>
      <p:sp>
        <p:nvSpPr>
          <p:cNvPr id="5" name="legend dot"/>
          <p:cNvSpPr/>
          <p:nvPr/>
        </p:nvSpPr>
        <p:spPr>
          <a:xfrm>
            <a:off x="731520" y="580644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legend label"/>
          <p:cNvSpPr txBox="1"/>
          <p:nvPr/>
        </p:nvSpPr>
        <p:spPr>
          <a:xfrm>
            <a:off x="1005840" y="5742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已驗證</a:t>
            </a:r>
            <a:endParaRPr lang="en-US" sz="1400" dirty="0"/>
          </a:p>
        </p:txBody>
      </p:sp>
      <p:sp>
        <p:nvSpPr>
          <p:cNvPr id="7" name="legend dot"/>
          <p:cNvSpPr/>
          <p:nvPr/>
        </p:nvSpPr>
        <p:spPr>
          <a:xfrm>
            <a:off x="2926080" y="5806440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legend label"/>
          <p:cNvSpPr txBox="1"/>
          <p:nvPr/>
        </p:nvSpPr>
        <p:spPr>
          <a:xfrm>
            <a:off x="3200400" y="5742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規劃中</a:t>
            </a:r>
            <a:endParaRPr lang="en-US" sz="1400" dirty="0"/>
          </a:p>
        </p:txBody>
      </p:sp>
      <p:sp>
        <p:nvSpPr>
          <p:cNvPr id="9" name="legend dot"/>
          <p:cNvSpPr/>
          <p:nvPr/>
        </p:nvSpPr>
        <p:spPr>
          <a:xfrm>
            <a:off x="5120640" y="5806440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egend label"/>
          <p:cNvSpPr txBox="1"/>
          <p:nvPr/>
        </p:nvSpPr>
        <p:spPr>
          <a:xfrm>
            <a:off x="5394960" y="5742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未驗證 / 高風險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一頁摘要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「已驗證」只指本次實際執行並看到結果;時程為預估,不是承諾</a:t>
            </a:r>
            <a:endParaRPr lang="en-US" sz="1600" dirty="0"/>
          </a:p>
        </p:txBody>
      </p:sp>
      <p:sp>
        <p:nvSpPr>
          <p:cNvPr id="4" name="summary card 1"/>
          <p:cNvSpPr/>
          <p:nvPr/>
        </p:nvSpPr>
        <p:spPr>
          <a:xfrm>
            <a:off x="548640" y="17373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5" name="status dot"/>
          <p:cNvSpPr/>
          <p:nvPr/>
        </p:nvSpPr>
        <p:spPr>
          <a:xfrm>
            <a:off x="777240" y="196596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tat"/>
          <p:cNvSpPr txBox="1"/>
          <p:nvPr/>
        </p:nvSpPr>
        <p:spPr>
          <a:xfrm>
            <a:off x="77724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 / 2</a:t>
            </a:r>
            <a:endParaRPr lang="en-US" sz="2000" dirty="0"/>
          </a:p>
        </p:txBody>
      </p:sp>
      <p:sp>
        <p:nvSpPr>
          <p:cNvPr id="7" name="heading"/>
          <p:cNvSpPr txBox="1"/>
          <p:nvPr/>
        </p:nvSpPr>
        <p:spPr>
          <a:xfrm>
            <a:off x="777240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MCU 編譯環境已容器化</a:t>
            </a:r>
            <a:endParaRPr lang="en-US" sz="1600" dirty="0"/>
          </a:p>
        </p:txBody>
      </p:sp>
      <p:sp>
        <p:nvSpPr>
          <p:cNvPr id="8" name="body"/>
          <p:cNvSpPr txBox="1"/>
          <p:nvPr/>
        </p:nvSpPr>
        <p:spPr>
          <a:xfrm>
            <a:off x="777240" y="37033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Telink TL322X(有線鍵盤)與 Nordic nRF54L / NCS 3.4.0(無線滑鼠),在乾淨 Ubuntu 22.04 上驗證可重現</a:t>
            </a:r>
            <a:endParaRPr lang="en-US" sz="1400" dirty="0"/>
          </a:p>
        </p:txBody>
      </p:sp>
      <p:sp>
        <p:nvSpPr>
          <p:cNvPr id="9" name="summary card 2"/>
          <p:cNvSpPr/>
          <p:nvPr/>
        </p:nvSpPr>
        <p:spPr>
          <a:xfrm>
            <a:off x="3355848" y="17373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10" name="status dot"/>
          <p:cNvSpPr/>
          <p:nvPr/>
        </p:nvSpPr>
        <p:spPr>
          <a:xfrm>
            <a:off x="3584448" y="196596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at"/>
          <p:cNvSpPr txBox="1"/>
          <p:nvPr/>
        </p:nvSpPr>
        <p:spPr>
          <a:xfrm>
            <a:off x="3584448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SHA256 一致</a:t>
            </a:r>
            <a:endParaRPr lang="en-US" sz="2000" dirty="0"/>
          </a:p>
        </p:txBody>
      </p:sp>
      <p:sp>
        <p:nvSpPr>
          <p:cNvPr id="12" name="heading"/>
          <p:cNvSpPr txBox="1"/>
          <p:nvPr/>
        </p:nvSpPr>
        <p:spPr>
          <a:xfrm>
            <a:off x="3584448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編譯結果可重現</a:t>
            </a:r>
            <a:endParaRPr lang="en-US" sz="1600" dirty="0"/>
          </a:p>
        </p:txBody>
      </p:sp>
      <p:sp>
        <p:nvSpPr>
          <p:cNvPr id="13" name="body"/>
          <p:cNvSpPr txBox="1"/>
          <p:nvPr/>
        </p:nvSpPr>
        <p:spPr>
          <a:xfrm>
            <a:off x="3584448" y="37033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Telink 3 個設定與 Windows 逐位元組一致;Nordic 6 種組合重編與跨主機雜湊相同</a:t>
            </a:r>
            <a:endParaRPr lang="en-US" sz="1400" dirty="0"/>
          </a:p>
        </p:txBody>
      </p:sp>
      <p:sp>
        <p:nvSpPr>
          <p:cNvPr id="14" name="summary card 3"/>
          <p:cNvSpPr/>
          <p:nvPr/>
        </p:nvSpPr>
        <p:spPr>
          <a:xfrm>
            <a:off x="6163056" y="17373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15" name="status dot"/>
          <p:cNvSpPr/>
          <p:nvPr/>
        </p:nvSpPr>
        <p:spPr>
          <a:xfrm>
            <a:off x="6391656" y="196596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tat"/>
          <p:cNvSpPr txBox="1"/>
          <p:nvPr/>
        </p:nvSpPr>
        <p:spPr>
          <a:xfrm>
            <a:off x="6391656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22.04 + Docker</a:t>
            </a:r>
            <a:endParaRPr lang="en-US" sz="2000" dirty="0"/>
          </a:p>
        </p:txBody>
      </p:sp>
      <p:sp>
        <p:nvSpPr>
          <p:cNvPr id="17" name="heading"/>
          <p:cNvSpPr txBox="1"/>
          <p:nvPr/>
        </p:nvSpPr>
        <p:spPr>
          <a:xfrm>
            <a:off x="6391656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Build Server 不必升級主機</a:t>
            </a:r>
            <a:endParaRPr lang="en-US" sz="1600" dirty="0"/>
          </a:p>
        </p:txBody>
      </p:sp>
      <p:sp>
        <p:nvSpPr>
          <p:cNvPr id="18" name="body"/>
          <p:cNvSpPr txBox="1"/>
          <p:nvPr/>
        </p:nvSpPr>
        <p:spPr>
          <a:xfrm>
            <a:off x="6391656" y="37033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Nordic 要求的 Ubuntu 24.04 只存在於容器內;部署為 scp 映像檔加一支腳本</a:t>
            </a:r>
            <a:endParaRPr lang="en-US" sz="1400" dirty="0"/>
          </a:p>
        </p:txBody>
      </p:sp>
      <p:sp>
        <p:nvSpPr>
          <p:cNvPr id="19" name="summary card 4"/>
          <p:cNvSpPr/>
          <p:nvPr/>
        </p:nvSpPr>
        <p:spPr>
          <a:xfrm>
            <a:off x="8970264" y="17373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20" name="status dot"/>
          <p:cNvSpPr/>
          <p:nvPr/>
        </p:nvSpPr>
        <p:spPr>
          <a:xfrm>
            <a:off x="9198864" y="196596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tat"/>
          <p:cNvSpPr txBox="1"/>
          <p:nvPr/>
        </p:nvSpPr>
        <p:spPr>
          <a:xfrm>
            <a:off x="9198864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尚未完成</a:t>
            </a:r>
            <a:endParaRPr lang="en-US" sz="2000" dirty="0"/>
          </a:p>
        </p:txBody>
      </p:sp>
      <p:sp>
        <p:nvSpPr>
          <p:cNvPr id="22" name="heading"/>
          <p:cNvSpPr txBox="1"/>
          <p:nvPr/>
        </p:nvSpPr>
        <p:spPr>
          <a:xfrm>
            <a:off x="9198864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實體部署、CI、HSM</a:t>
            </a:r>
            <a:endParaRPr lang="en-US" sz="1600" dirty="0"/>
          </a:p>
        </p:txBody>
      </p:sp>
      <p:sp>
        <p:nvSpPr>
          <p:cNvPr id="23" name="body"/>
          <p:cNvSpPr txBox="1"/>
          <p:nvPr/>
        </p:nvSpPr>
        <p:spPr>
          <a:xfrm>
            <a:off x="9198864" y="37033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尚未部署到實體 Build Server(目前以 WSL 模擬);GitHub Actions 與 Thales Luna HSM 簽章尚未開始</a:t>
            </a:r>
            <a:endParaRPr lang="en-US" sz="1400" dirty="0"/>
          </a:p>
        </p:txBody>
      </p:sp>
      <p:sp>
        <p:nvSpPr>
          <p:cNvPr id="24" name="key risk"/>
          <p:cNvSpPr txBox="1"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FF1CC"/>
          </a:solidFill>
          <a:ln w="15875">
            <a:solidFill>
              <a:schemeClr val="accent3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最大風險:簽章流程(HSM)尚無技術驗證,是整體時程最不確定的一段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容器化編譯環境架構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映像檔只放工具;專案與簽章金鑰在執行時掛載,不進映像檔;全程不燒錄</a:t>
            </a:r>
            <a:endParaRPr lang="en-US" sz="1600" dirty="0"/>
          </a:p>
        </p:txBody>
      </p:sp>
      <p:sp>
        <p:nvSpPr>
          <p:cNvPr id="4" name="Telink panel"/>
          <p:cNvSpPr/>
          <p:nvPr/>
        </p:nvSpPr>
        <p:spPr>
          <a:xfrm>
            <a:off x="548640" y="1645920"/>
            <a:ext cx="4023360" cy="2286000"/>
          </a:xfrm>
          <a:prstGeom prst="roundRect">
            <a:avLst>
              <a:gd name="adj" fmla="val 4800"/>
            </a:avLst>
          </a:prstGeom>
          <a:solidFill>
            <a:srgbClr val="DCE8FD"/>
          </a:solidFill>
          <a:ln w="12700">
            <a:solidFill>
              <a:srgbClr val="DCE8FD"/>
            </a:solidFill>
            <a:prstDash val="solid"/>
          </a:ln>
        </p:spPr>
      </p:sp>
      <p:sp>
        <p:nvSpPr>
          <p:cNvPr id="5" name="Telink title"/>
          <p:cNvSpPr txBox="1"/>
          <p:nvPr/>
        </p:nvSpPr>
        <p:spPr>
          <a:xfrm>
            <a:off x="73152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Telink TL322X(有線鍵盤)</a:t>
            </a:r>
            <a:endParaRPr lang="en-US" sz="1600" dirty="0"/>
          </a:p>
        </p:txBody>
      </p:sp>
      <p:sp>
        <p:nvSpPr>
          <p:cNvPr id="6" name="Telink toolchain"/>
          <p:cNvSpPr txBox="1"/>
          <p:nvPr/>
        </p:nvSpPr>
        <p:spPr>
          <a:xfrm>
            <a:off x="731520" y="219456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V5F GCC 12.2.0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複製進映像檔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2578608" y="2628900"/>
            <a:ext cx="2743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link image"/>
          <p:cNvSpPr txBox="1"/>
          <p:nvPr/>
        </p:nvSpPr>
        <p:spPr>
          <a:xfrm>
            <a:off x="2880360" y="2194560"/>
            <a:ext cx="15087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Docker 映像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Ubuntu 22.04 約 326 MB</a:t>
            </a:r>
            <a:endParaRPr lang="en-US" sz="1400" dirty="0"/>
          </a:p>
        </p:txBody>
      </p:sp>
      <p:sp>
        <p:nvSpPr>
          <p:cNvPr id="9" name="Telink makefile"/>
          <p:cNvSpPr txBox="1"/>
          <p:nvPr/>
        </p:nvSpPr>
        <p:spPr>
          <a:xfrm>
            <a:off x="731520" y="320040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Linux makefile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需先由 Windows IoT Studio 產生</a:t>
            </a:r>
            <a:endParaRPr lang="en-US" sz="1400" dirty="0"/>
          </a:p>
        </p:txBody>
      </p:sp>
      <p:sp>
        <p:nvSpPr>
          <p:cNvPr id="10" name="Nordic panel"/>
          <p:cNvSpPr/>
          <p:nvPr/>
        </p:nvSpPr>
        <p:spPr>
          <a:xfrm>
            <a:off x="548640" y="4069080"/>
            <a:ext cx="4023360" cy="2286000"/>
          </a:xfrm>
          <a:prstGeom prst="roundRect">
            <a:avLst>
              <a:gd name="adj" fmla="val 4800"/>
            </a:avLst>
          </a:prstGeom>
          <a:solidFill>
            <a:srgbClr val="E8E0FA"/>
          </a:solidFill>
          <a:ln w="12700">
            <a:solidFill>
              <a:srgbClr val="E8E0FA"/>
            </a:solidFill>
            <a:prstDash val="solid"/>
          </a:ln>
        </p:spPr>
      </p:sp>
      <p:sp>
        <p:nvSpPr>
          <p:cNvPr id="11" name="Nordic title"/>
          <p:cNvSpPr txBox="1"/>
          <p:nvPr/>
        </p:nvSpPr>
        <p:spPr>
          <a:xfrm>
            <a:off x="731520" y="4142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Nordic nRF54L(無線滑鼠)</a:t>
            </a:r>
            <a:endParaRPr lang="en-US" sz="1600" dirty="0"/>
          </a:p>
        </p:txBody>
      </p:sp>
      <p:sp>
        <p:nvSpPr>
          <p:cNvPr id="12" name="NCS source"/>
          <p:cNvSpPr txBox="1"/>
          <p:nvPr/>
        </p:nvSpPr>
        <p:spPr>
          <a:xfrm>
            <a:off x="731520" y="45720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chemeClr val="accent5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NCS v3.4.0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原始碼(內建)</a:t>
            </a:r>
            <a:endParaRPr lang="en-US" sz="1400" dirty="0"/>
          </a:p>
        </p:txBody>
      </p:sp>
      <p:sp>
        <p:nvSpPr>
          <p:cNvPr id="13" name="Nordic toolchain"/>
          <p:cNvSpPr txBox="1"/>
          <p:nvPr/>
        </p:nvSpPr>
        <p:spPr>
          <a:xfrm>
            <a:off x="731520" y="5468112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chemeClr val="accent5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Zephyr SDK 1.0.1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CMake、west、Ninja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2578608" y="5321808"/>
            <a:ext cx="2743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Nordic image"/>
          <p:cNvSpPr txBox="1"/>
          <p:nvPr/>
        </p:nvSpPr>
        <p:spPr>
          <a:xfrm>
            <a:off x="2880360" y="4892040"/>
            <a:ext cx="15087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chemeClr val="accent5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Docker 映像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Ubuntu 24.04 約 2.3 GB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4389120" y="2628900"/>
            <a:ext cx="5486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7" name="arrow"/>
          <p:cNvSpPr/>
          <p:nvPr/>
        </p:nvSpPr>
        <p:spPr>
          <a:xfrm>
            <a:off x="4389120" y="5326380"/>
            <a:ext cx="5486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8" name="arrow"/>
          <p:cNvSpPr/>
          <p:nvPr/>
        </p:nvSpPr>
        <p:spPr>
          <a:xfrm>
            <a:off x="4937760" y="2628900"/>
            <a:ext cx="0" cy="26974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9" name="arrow"/>
          <p:cNvSpPr/>
          <p:nvPr/>
        </p:nvSpPr>
        <p:spPr>
          <a:xfrm>
            <a:off x="4937760" y="397764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build container"/>
          <p:cNvSpPr txBox="1"/>
          <p:nvPr/>
        </p:nvSpPr>
        <p:spPr>
          <a:xfrm>
            <a:off x="5394960" y="338328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0F1B2D"/>
          </a:solidFill>
          <a:ln w="15875">
            <a:solidFill>
              <a:srgbClr val="0F1B2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容器內編譯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6D0E0"/>
                </a:solidFill>
              </a:rPr>
              <a:t>以非 root 使用者執行</a:t>
            </a:r>
            <a:endParaRPr lang="en-US" sz="1600" dirty="0"/>
          </a:p>
        </p:txBody>
      </p:sp>
      <p:sp>
        <p:nvSpPr>
          <p:cNvPr id="21" name="mount source"/>
          <p:cNvSpPr txBox="1"/>
          <p:nvPr/>
        </p:nvSpPr>
        <p:spPr>
          <a:xfrm>
            <a:off x="5394960" y="16459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D9DDE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專案原始碼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以 -v 掛載</a:t>
            </a:r>
            <a:endParaRPr lang="en-US" sz="1400" dirty="0"/>
          </a:p>
        </p:txBody>
      </p:sp>
      <p:sp>
        <p:nvSpPr>
          <p:cNvPr id="22" name="mount keys"/>
          <p:cNvSpPr txBox="1"/>
          <p:nvPr/>
        </p:nvSpPr>
        <p:spPr>
          <a:xfrm>
            <a:off x="5394960" y="242316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1CC"/>
          </a:solidFill>
          <a:ln w="15875">
            <a:solidFill>
              <a:schemeClr val="accent3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簽章金鑰 KEYS_DIR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唯讀掛載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6446520" y="3090672"/>
            <a:ext cx="0" cy="27432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arrow"/>
          <p:cNvSpPr/>
          <p:nvPr/>
        </p:nvSpPr>
        <p:spPr>
          <a:xfrm>
            <a:off x="7498080" y="3977640"/>
            <a:ext cx="3657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5" name="arrow"/>
          <p:cNvSpPr/>
          <p:nvPr/>
        </p:nvSpPr>
        <p:spPr>
          <a:xfrm>
            <a:off x="7863840" y="3268980"/>
            <a:ext cx="0" cy="14630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6" name="arrow"/>
          <p:cNvSpPr/>
          <p:nvPr/>
        </p:nvSpPr>
        <p:spPr>
          <a:xfrm>
            <a:off x="7863840" y="3268980"/>
            <a:ext cx="3657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arrow"/>
          <p:cNvSpPr/>
          <p:nvPr/>
        </p:nvSpPr>
        <p:spPr>
          <a:xfrm>
            <a:off x="7863840" y="4732020"/>
            <a:ext cx="3657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Telink output"/>
          <p:cNvSpPr txBox="1"/>
          <p:nvPr/>
        </p:nvSpPr>
        <p:spPr>
          <a:xfrm>
            <a:off x="8229600" y="28803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D9DDE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Telink .bin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 個編譯設定</a:t>
            </a:r>
            <a:endParaRPr lang="en-US" sz="1400" dirty="0"/>
          </a:p>
        </p:txBody>
      </p:sp>
      <p:sp>
        <p:nvSpPr>
          <p:cNvPr id="29" name="Telink check"/>
          <p:cNvSpPr txBox="1"/>
          <p:nvPr/>
        </p:nvSpPr>
        <p:spPr>
          <a:xfrm>
            <a:off x="822960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與 Windows 逐位元組一致</a:t>
            </a:r>
            <a:endParaRPr lang="en-US" sz="1200" dirty="0"/>
          </a:p>
        </p:txBody>
      </p:sp>
      <p:sp>
        <p:nvSpPr>
          <p:cNvPr id="30" name="Nordic output"/>
          <p:cNvSpPr txBox="1"/>
          <p:nvPr/>
        </p:nvSpPr>
        <p:spPr>
          <a:xfrm>
            <a:off x="8229600" y="429768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D9DDE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Nordic 產物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signed.hex + MCUboot 6 組合</a:t>
            </a:r>
            <a:endParaRPr lang="en-US" sz="1400" dirty="0"/>
          </a:p>
        </p:txBody>
      </p:sp>
      <p:sp>
        <p:nvSpPr>
          <p:cNvPr id="31" name="Nordic check"/>
          <p:cNvSpPr txBox="1"/>
          <p:nvPr/>
        </p:nvSpPr>
        <p:spPr>
          <a:xfrm>
            <a:off x="8229600" y="5212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重編與跨主機一致</a:t>
            </a:r>
            <a:endParaRPr lang="en-US" sz="1200" dirty="0"/>
          </a:p>
        </p:txBody>
      </p:sp>
      <p:sp>
        <p:nvSpPr>
          <p:cNvPr id="32" name="arrow"/>
          <p:cNvSpPr/>
          <p:nvPr/>
        </p:nvSpPr>
        <p:spPr>
          <a:xfrm>
            <a:off x="10058400" y="3268980"/>
            <a:ext cx="3200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3" name="arrow"/>
          <p:cNvSpPr/>
          <p:nvPr/>
        </p:nvSpPr>
        <p:spPr>
          <a:xfrm>
            <a:off x="10058400" y="4732020"/>
            <a:ext cx="3200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4" name="arrow"/>
          <p:cNvSpPr/>
          <p:nvPr/>
        </p:nvSpPr>
        <p:spPr>
          <a:xfrm>
            <a:off x="10378440" y="3268980"/>
            <a:ext cx="0" cy="14630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5" name="arrow"/>
          <p:cNvSpPr/>
          <p:nvPr/>
        </p:nvSpPr>
        <p:spPr>
          <a:xfrm>
            <a:off x="10378440" y="3977640"/>
            <a:ext cx="228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6" name="SHA256 baseline"/>
          <p:cNvSpPr txBox="1"/>
          <p:nvPr/>
        </p:nvSpPr>
        <p:spPr>
          <a:xfrm>
            <a:off x="10607040" y="3520440"/>
            <a:ext cx="1033272" cy="914400"/>
          </a:xfrm>
          <a:prstGeom prst="roundRect">
            <a:avLst>
              <a:gd name="adj" fmla="val 10000"/>
            </a:avLst>
          </a:prstGeom>
          <a:solidFill>
            <a:srgbClr val="DDF3E4"/>
          </a:solidFill>
          <a:ln w="15875">
            <a:solidFill>
              <a:schemeClr val="accent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SHA256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比對基準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部署到 Build Server 的流程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兩個平台相同;映像檔只放工具,專案與金鑰在執行時掛載</a:t>
            </a:r>
            <a:endParaRPr lang="en-US" sz="1600" dirty="0"/>
          </a:p>
        </p:txBody>
      </p:sp>
      <p:sp>
        <p:nvSpPr>
          <p:cNvPr id="4" name="step card 1"/>
          <p:cNvSpPr/>
          <p:nvPr/>
        </p:nvSpPr>
        <p:spPr>
          <a:xfrm>
            <a:off x="548640" y="1691640"/>
            <a:ext cx="1618488" cy="283464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5" name="step number"/>
          <p:cNvSpPr txBox="1"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title"/>
          <p:cNvSpPr txBox="1"/>
          <p:nvPr/>
        </p:nvSpPr>
        <p:spPr>
          <a:xfrm>
            <a:off x="685800" y="242316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前置檢查</a:t>
            </a:r>
            <a:endParaRPr lang="en-US" sz="1600" dirty="0"/>
          </a:p>
        </p:txBody>
      </p:sp>
      <p:sp>
        <p:nvSpPr>
          <p:cNvPr id="7" name="step body"/>
          <p:cNvSpPr txBox="1"/>
          <p:nvPr/>
        </p:nvSpPr>
        <p:spPr>
          <a:xfrm>
            <a:off x="685800" y="2834640"/>
            <a:ext cx="1344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Ubuntu 22.04、sudo、git;磁碟 8 GB(Telink)或 30 GB(Nordic)</a:t>
            </a:r>
            <a:endParaRPr lang="en-US" sz="1400" dirty="0"/>
          </a:p>
        </p:txBody>
      </p:sp>
      <p:sp>
        <p:nvSpPr>
          <p:cNvPr id="8" name="step arrow"/>
          <p:cNvSpPr/>
          <p:nvPr/>
        </p:nvSpPr>
        <p:spPr>
          <a:xfrm>
            <a:off x="2212848" y="3017520"/>
            <a:ext cx="18288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tep card 2"/>
          <p:cNvSpPr/>
          <p:nvPr/>
        </p:nvSpPr>
        <p:spPr>
          <a:xfrm>
            <a:off x="2437790" y="1691640"/>
            <a:ext cx="1618488" cy="283464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10" name="step number"/>
          <p:cNvSpPr txBox="1"/>
          <p:nvPr/>
        </p:nvSpPr>
        <p:spPr>
          <a:xfrm>
            <a:off x="2574950" y="18288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 title"/>
          <p:cNvSpPr txBox="1"/>
          <p:nvPr/>
        </p:nvSpPr>
        <p:spPr>
          <a:xfrm>
            <a:off x="2574950" y="242316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scp 傳檔</a:t>
            </a:r>
            <a:endParaRPr lang="en-US" sz="1600" dirty="0"/>
          </a:p>
        </p:txBody>
      </p:sp>
      <p:sp>
        <p:nvSpPr>
          <p:cNvPr id="12" name="step body"/>
          <p:cNvSpPr txBox="1"/>
          <p:nvPr/>
        </p:nvSpPr>
        <p:spPr>
          <a:xfrm>
            <a:off x="2574950" y="2834640"/>
            <a:ext cx="1344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映像檔、雜湊檔、安裝腳本與編譯腳本</a:t>
            </a:r>
            <a:endParaRPr lang="en-US" sz="1400" dirty="0"/>
          </a:p>
        </p:txBody>
      </p:sp>
      <p:sp>
        <p:nvSpPr>
          <p:cNvPr id="13" name="step arrow"/>
          <p:cNvSpPr/>
          <p:nvPr/>
        </p:nvSpPr>
        <p:spPr>
          <a:xfrm>
            <a:off x="4101998" y="3017520"/>
            <a:ext cx="18288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step card 3"/>
          <p:cNvSpPr/>
          <p:nvPr/>
        </p:nvSpPr>
        <p:spPr>
          <a:xfrm>
            <a:off x="4326941" y="1691640"/>
            <a:ext cx="1618488" cy="283464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15" name="step number"/>
          <p:cNvSpPr txBox="1"/>
          <p:nvPr/>
        </p:nvSpPr>
        <p:spPr>
          <a:xfrm>
            <a:off x="4464101" y="18288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 title"/>
          <p:cNvSpPr txBox="1"/>
          <p:nvPr/>
        </p:nvSpPr>
        <p:spPr>
          <a:xfrm>
            <a:off x="4464101" y="242316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一鍵安裝</a:t>
            </a:r>
            <a:endParaRPr lang="en-US" sz="1600" dirty="0"/>
          </a:p>
        </p:txBody>
      </p:sp>
      <p:sp>
        <p:nvSpPr>
          <p:cNvPr id="17" name="step body"/>
          <p:cNvSpPr txBox="1"/>
          <p:nvPr/>
        </p:nvSpPr>
        <p:spPr>
          <a:xfrm>
            <a:off x="4464101" y="2834640"/>
            <a:ext cx="1344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執行安裝腳本:驗證雜湊、安裝 Docker、載入映像、冒煙測試</a:t>
            </a:r>
            <a:endParaRPr lang="en-US" sz="1400" dirty="0"/>
          </a:p>
        </p:txBody>
      </p:sp>
      <p:sp>
        <p:nvSpPr>
          <p:cNvPr id="18" name="step arrow"/>
          <p:cNvSpPr/>
          <p:nvPr/>
        </p:nvSpPr>
        <p:spPr>
          <a:xfrm>
            <a:off x="5991149" y="3017520"/>
            <a:ext cx="18288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step card 4"/>
          <p:cNvSpPr/>
          <p:nvPr/>
        </p:nvSpPr>
        <p:spPr>
          <a:xfrm>
            <a:off x="6216091" y="1691640"/>
            <a:ext cx="1618488" cy="283464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20" name="step number"/>
          <p:cNvSpPr txBox="1"/>
          <p:nvPr/>
        </p:nvSpPr>
        <p:spPr>
          <a:xfrm>
            <a:off x="6353251" y="18288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tep title"/>
          <p:cNvSpPr txBox="1"/>
          <p:nvPr/>
        </p:nvSpPr>
        <p:spPr>
          <a:xfrm>
            <a:off x="6353251" y="242316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取得專案</a:t>
            </a:r>
            <a:endParaRPr lang="en-US" sz="1600" dirty="0"/>
          </a:p>
        </p:txBody>
      </p:sp>
      <p:sp>
        <p:nvSpPr>
          <p:cNvPr id="22" name="step body"/>
          <p:cNvSpPr txBox="1"/>
          <p:nvPr/>
        </p:nvSpPr>
        <p:spPr>
          <a:xfrm>
            <a:off x="6353251" y="2834640"/>
            <a:ext cx="1344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git clone;Telink 另需帶 linux_* makefile 資料夾(不在 git 內)</a:t>
            </a:r>
            <a:endParaRPr lang="en-US" sz="1400" dirty="0"/>
          </a:p>
        </p:txBody>
      </p:sp>
      <p:sp>
        <p:nvSpPr>
          <p:cNvPr id="23" name="step arrow"/>
          <p:cNvSpPr/>
          <p:nvPr/>
        </p:nvSpPr>
        <p:spPr>
          <a:xfrm>
            <a:off x="7880299" y="3017520"/>
            <a:ext cx="18288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step card 5"/>
          <p:cNvSpPr/>
          <p:nvPr/>
        </p:nvSpPr>
        <p:spPr>
          <a:xfrm>
            <a:off x="8105242" y="1691640"/>
            <a:ext cx="1618488" cy="283464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25" name="step number"/>
          <p:cNvSpPr txBox="1"/>
          <p:nvPr/>
        </p:nvSpPr>
        <p:spPr>
          <a:xfrm>
            <a:off x="8242402" y="18288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step title"/>
          <p:cNvSpPr txBox="1"/>
          <p:nvPr/>
        </p:nvSpPr>
        <p:spPr>
          <a:xfrm>
            <a:off x="8242402" y="242316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容器內編譯</a:t>
            </a:r>
            <a:endParaRPr lang="en-US" sz="1600" dirty="0"/>
          </a:p>
        </p:txBody>
      </p:sp>
      <p:sp>
        <p:nvSpPr>
          <p:cNvPr id="27" name="step body"/>
          <p:cNvSpPr txBox="1"/>
          <p:nvPr/>
        </p:nvSpPr>
        <p:spPr>
          <a:xfrm>
            <a:off x="8242402" y="2834640"/>
            <a:ext cx="1344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執行編譯腳本;全程不燒錄</a:t>
            </a:r>
            <a:endParaRPr lang="en-US" sz="1400" dirty="0"/>
          </a:p>
        </p:txBody>
      </p:sp>
      <p:sp>
        <p:nvSpPr>
          <p:cNvPr id="28" name="step arrow"/>
          <p:cNvSpPr/>
          <p:nvPr/>
        </p:nvSpPr>
        <p:spPr>
          <a:xfrm>
            <a:off x="9769450" y="3017520"/>
            <a:ext cx="18288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step card 6"/>
          <p:cNvSpPr/>
          <p:nvPr/>
        </p:nvSpPr>
        <p:spPr>
          <a:xfrm>
            <a:off x="9994392" y="1691640"/>
            <a:ext cx="1618488" cy="283464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30" name="step number"/>
          <p:cNvSpPr txBox="1"/>
          <p:nvPr/>
        </p:nvSpPr>
        <p:spPr>
          <a:xfrm>
            <a:off x="10131552" y="18288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step title"/>
          <p:cNvSpPr txBox="1"/>
          <p:nvPr/>
        </p:nvSpPr>
        <p:spPr>
          <a:xfrm>
            <a:off x="10131552" y="242316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比對雜湊</a:t>
            </a:r>
            <a:endParaRPr lang="en-US" sz="1600" dirty="0"/>
          </a:p>
        </p:txBody>
      </p:sp>
      <p:sp>
        <p:nvSpPr>
          <p:cNvPr id="32" name="step body"/>
          <p:cNvSpPr txBox="1"/>
          <p:nvPr/>
        </p:nvSpPr>
        <p:spPr>
          <a:xfrm>
            <a:off x="10131552" y="2834640"/>
            <a:ext cx="1344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產物 SHA256 對照 README 內已驗證的基準值</a:t>
            </a:r>
            <a:endParaRPr lang="en-US" sz="1400" dirty="0"/>
          </a:p>
        </p:txBody>
      </p:sp>
      <p:sp>
        <p:nvSpPr>
          <p:cNvPr id="33" name="warning"/>
          <p:cNvSpPr txBox="1"/>
          <p:nvPr/>
        </p:nvSpPr>
        <p:spPr>
          <a:xfrm>
            <a:off x="548640" y="47548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1CC"/>
          </a:solidFill>
          <a:ln w="15875">
            <a:solidFill>
              <a:schemeClr val="accent3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注意:以上流程目前在 WSL 模擬的 Ubuntu 22.04 驗證,尚未在實體 Build Server 執行。第一步要在實體機器確認 Docker 版本、磁碟與網路。</a:t>
            </a:r>
            <a:endParaRPr lang="en-US" sz="1400" dirty="0"/>
          </a:p>
        </p:txBody>
      </p:sp>
      <p:sp>
        <p:nvSpPr>
          <p:cNvPr id="34" name="principle dot"/>
          <p:cNvSpPr/>
          <p:nvPr/>
        </p:nvSpPr>
        <p:spPr>
          <a:xfrm>
            <a:off x="548640" y="5897880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principle"/>
          <p:cNvSpPr txBox="1"/>
          <p:nvPr/>
        </p:nvSpPr>
        <p:spPr>
          <a:xfrm>
            <a:off x="804672" y="5715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映像不含專案原始碼與簽章金鑰</a:t>
            </a:r>
            <a:endParaRPr lang="en-US" sz="1400" dirty="0"/>
          </a:p>
        </p:txBody>
      </p:sp>
      <p:sp>
        <p:nvSpPr>
          <p:cNvPr id="36" name="principle dot"/>
          <p:cNvSpPr/>
          <p:nvPr/>
        </p:nvSpPr>
        <p:spPr>
          <a:xfrm>
            <a:off x="3337560" y="5897880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principle"/>
          <p:cNvSpPr txBox="1"/>
          <p:nvPr/>
        </p:nvSpPr>
        <p:spPr>
          <a:xfrm>
            <a:off x="3593592" y="5715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以非 root 使用者執行容器</a:t>
            </a:r>
            <a:endParaRPr lang="en-US" sz="1400" dirty="0"/>
          </a:p>
        </p:txBody>
      </p:sp>
      <p:sp>
        <p:nvSpPr>
          <p:cNvPr id="38" name="principle dot"/>
          <p:cNvSpPr/>
          <p:nvPr/>
        </p:nvSpPr>
        <p:spPr>
          <a:xfrm>
            <a:off x="6126480" y="5897880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principle"/>
          <p:cNvSpPr txBox="1"/>
          <p:nvPr/>
        </p:nvSpPr>
        <p:spPr>
          <a:xfrm>
            <a:off x="6382512" y="5715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多個專案共用同一映像</a:t>
            </a:r>
            <a:endParaRPr lang="en-US" sz="1400" dirty="0"/>
          </a:p>
        </p:txBody>
      </p:sp>
      <p:sp>
        <p:nvSpPr>
          <p:cNvPr id="40" name="principle dot"/>
          <p:cNvSpPr/>
          <p:nvPr/>
        </p:nvSpPr>
        <p:spPr>
          <a:xfrm>
            <a:off x="8915400" y="5897880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principle"/>
          <p:cNvSpPr txBox="1"/>
          <p:nvPr/>
        </p:nvSpPr>
        <p:spPr>
          <a:xfrm>
            <a:off x="9171432" y="5715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原腳本的 west flash 已移除,適合 CI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目標 CI/CD 流程與完成狀態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綠色已完成、黃色規劃中、紅色未驗證且風險最高</a:t>
            </a:r>
            <a:endParaRPr lang="en-US" sz="1600" dirty="0"/>
          </a:p>
        </p:txBody>
      </p:sp>
      <p:sp>
        <p:nvSpPr>
          <p:cNvPr id="4" name="pipeline node 1"/>
          <p:cNvSpPr txBox="1"/>
          <p:nvPr/>
        </p:nvSpPr>
        <p:spPr>
          <a:xfrm>
            <a:off x="548640" y="173736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1CC"/>
          </a:solidFill>
          <a:ln w="15875">
            <a:solidFill>
              <a:schemeClr val="accent3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  PR 或 tag 觸發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僅限受保護分支,不對 fork PR 執行</a:t>
            </a:r>
            <a:endParaRPr lang="en-US" sz="1600" dirty="0"/>
          </a:p>
        </p:txBody>
      </p:sp>
      <p:sp>
        <p:nvSpPr>
          <p:cNvPr id="5" name="pipeline arrow"/>
          <p:cNvSpPr/>
          <p:nvPr/>
        </p:nvSpPr>
        <p:spPr>
          <a:xfrm>
            <a:off x="3099816" y="2441448"/>
            <a:ext cx="228600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pipeline node 2"/>
          <p:cNvSpPr txBox="1"/>
          <p:nvPr/>
        </p:nvSpPr>
        <p:spPr>
          <a:xfrm>
            <a:off x="3413455" y="173736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1CC"/>
          </a:solidFill>
          <a:ln w="15875">
            <a:solidFill>
              <a:schemeClr val="accent3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  Self-hosted runner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尚未安裝;需資安核可</a:t>
            </a:r>
            <a:endParaRPr lang="en-US" sz="1600" dirty="0"/>
          </a:p>
        </p:txBody>
      </p:sp>
      <p:sp>
        <p:nvSpPr>
          <p:cNvPr id="7" name="pipeline arrow"/>
          <p:cNvSpPr/>
          <p:nvPr/>
        </p:nvSpPr>
        <p:spPr>
          <a:xfrm>
            <a:off x="5964631" y="2441448"/>
            <a:ext cx="228600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pipeline node 3"/>
          <p:cNvSpPr txBox="1"/>
          <p:nvPr/>
        </p:nvSpPr>
        <p:spPr>
          <a:xfrm>
            <a:off x="6278270" y="173736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DDF3E4"/>
          </a:solidFill>
          <a:ln w="15875">
            <a:solidFill>
              <a:schemeClr val="accent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  容器內編譯(無簽章)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已驗證:兩個平台皆可編譯並重現</a:t>
            </a:r>
            <a:endParaRPr lang="en-US" sz="1600" dirty="0"/>
          </a:p>
        </p:txBody>
      </p:sp>
      <p:sp>
        <p:nvSpPr>
          <p:cNvPr id="9" name="pipeline arrow"/>
          <p:cNvSpPr/>
          <p:nvPr/>
        </p:nvSpPr>
        <p:spPr>
          <a:xfrm>
            <a:off x="8829446" y="2441448"/>
            <a:ext cx="228600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pipeline node 4"/>
          <p:cNvSpPr txBox="1"/>
          <p:nvPr/>
        </p:nvSpPr>
        <p:spPr>
          <a:xfrm>
            <a:off x="9143086" y="173736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DDF3E4"/>
          </a:solidFill>
          <a:ln w="15875">
            <a:solidFill>
              <a:schemeClr val="accent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  未簽章映像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容器只產出未簽章映像</a:t>
            </a:r>
            <a:endParaRPr lang="en-US" sz="1600" dirty="0"/>
          </a:p>
        </p:txBody>
      </p:sp>
      <p:sp>
        <p:nvSpPr>
          <p:cNvPr id="11" name="pipeline node 5"/>
          <p:cNvSpPr txBox="1"/>
          <p:nvPr/>
        </p:nvSpPr>
        <p:spPr>
          <a:xfrm>
            <a:off x="548640" y="374904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BDADA"/>
          </a:solidFill>
          <a:ln w="15875">
            <a:solidFill>
              <a:schemeClr val="accent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  Luna HSM A700 簽章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尚未開始;NCS 3.4.0 外部簽章方式未查證</a:t>
            </a:r>
            <a:endParaRPr lang="en-US" sz="1600" dirty="0"/>
          </a:p>
        </p:txBody>
      </p:sp>
      <p:sp>
        <p:nvSpPr>
          <p:cNvPr id="12" name="pipeline arrow"/>
          <p:cNvSpPr/>
          <p:nvPr/>
        </p:nvSpPr>
        <p:spPr>
          <a:xfrm>
            <a:off x="3099816" y="4453128"/>
            <a:ext cx="228600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pipeline node 6"/>
          <p:cNvSpPr txBox="1"/>
          <p:nvPr/>
        </p:nvSpPr>
        <p:spPr>
          <a:xfrm>
            <a:off x="3413455" y="374904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BDADA"/>
          </a:solidFill>
          <a:ln w="15875">
            <a:solidFill>
              <a:schemeClr val="accent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  已簽章映像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用 HSM 簽出並於板上通過 MCUboot 驗證</a:t>
            </a:r>
            <a:endParaRPr lang="en-US" sz="1600" dirty="0"/>
          </a:p>
        </p:txBody>
      </p:sp>
      <p:sp>
        <p:nvSpPr>
          <p:cNvPr id="14" name="pipeline arrow"/>
          <p:cNvSpPr/>
          <p:nvPr/>
        </p:nvSpPr>
        <p:spPr>
          <a:xfrm>
            <a:off x="5964631" y="4453128"/>
            <a:ext cx="228600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pipeline node 7"/>
          <p:cNvSpPr txBox="1"/>
          <p:nvPr/>
        </p:nvSpPr>
        <p:spPr>
          <a:xfrm>
            <a:off x="6278270" y="374904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1CC"/>
          </a:solidFill>
          <a:ln w="15875">
            <a:solidFill>
              <a:schemeClr val="accent3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  產生 SBOM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目前僅對舊版 SDK 產生過</a:t>
            </a:r>
            <a:endParaRPr lang="en-US" sz="1600" dirty="0"/>
          </a:p>
        </p:txBody>
      </p:sp>
      <p:sp>
        <p:nvSpPr>
          <p:cNvPr id="16" name="pipeline arrow"/>
          <p:cNvSpPr/>
          <p:nvPr/>
        </p:nvSpPr>
        <p:spPr>
          <a:xfrm>
            <a:off x="8829446" y="4453128"/>
            <a:ext cx="228600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pipeline node 8"/>
          <p:cNvSpPr txBox="1"/>
          <p:nvPr/>
        </p:nvSpPr>
        <p:spPr>
          <a:xfrm>
            <a:off x="9143086" y="374904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1CC"/>
          </a:solidFill>
          <a:ln w="15875">
            <a:solidFill>
              <a:schemeClr val="accent3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  產物與 Release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含 SHA256、版本標記與發佈流程</a:t>
            </a:r>
            <a:endParaRPr lang="en-US" sz="1600" dirty="0"/>
          </a:p>
        </p:txBody>
      </p:sp>
      <p:sp>
        <p:nvSpPr>
          <p:cNvPr id="18" name="recommendation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建議:把「編譯」與「簽章」拆成兩步,容器只產出未簽章映像;Telink 的 linux_* makefile 需決定版控方式,或保留一台 Windows runner。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狀態檢查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已驗證 = 本次實際執行並看到結果</a:t>
            </a:r>
            <a:endParaRPr lang="en-US" sz="1600" dirty="0"/>
          </a:p>
        </p:txBody>
      </p:sp>
      <p:sp>
        <p:nvSpPr>
          <p:cNvPr id="4" name="status card 1"/>
          <p:cNvSpPr/>
          <p:nvPr/>
        </p:nvSpPr>
        <p:spPr>
          <a:xfrm>
            <a:off x="548640" y="1691640"/>
            <a:ext cx="3611880" cy="45720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5" name="status header"/>
          <p:cNvSpPr txBox="1"/>
          <p:nvPr/>
        </p:nvSpPr>
        <p:spPr>
          <a:xfrm>
            <a:off x="685800" y="1828800"/>
            <a:ext cx="3337560" cy="502920"/>
          </a:xfrm>
          <a:prstGeom prst="roundRect">
            <a:avLst>
              <a:gd name="adj" fmla="val 18182"/>
            </a:avLst>
          </a:prstGeom>
          <a:solidFill>
            <a:srgbClr val="DDF3E4"/>
          </a:solidFill>
          <a:ln w="12700">
            <a:solidFill>
              <a:schemeClr val="accent2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已完成(已驗證)</a:t>
            </a:r>
            <a:endParaRPr lang="en-US" sz="1600" dirty="0"/>
          </a:p>
        </p:txBody>
      </p:sp>
      <p:sp>
        <p:nvSpPr>
          <p:cNvPr id="6" name="status list 1"/>
          <p:cNvSpPr txBox="1"/>
          <p:nvPr/>
        </p:nvSpPr>
        <p:spPr>
          <a:xfrm>
            <a:off x="731520" y="2514600"/>
            <a:ext cx="3246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Telink:Windows 與 Docker 的 .bin 逐位元組一致(3 個設定)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Nordic:6 種組合編譯通過,重編雜湊相同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乾淨 Ubuntu 22.04 跨主機重現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外部簽章金鑰掛載(KEYS_DIR)正反向測試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交付套件:映像、SHA256SUMS、安裝與編譯腳本、README</a:t>
            </a:r>
            <a:endParaRPr lang="en-US" sz="1400" dirty="0"/>
          </a:p>
        </p:txBody>
      </p:sp>
      <p:sp>
        <p:nvSpPr>
          <p:cNvPr id="7" name="status card 2"/>
          <p:cNvSpPr/>
          <p:nvPr/>
        </p:nvSpPr>
        <p:spPr>
          <a:xfrm>
            <a:off x="4343400" y="1691640"/>
            <a:ext cx="3611880" cy="45720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8" name="status header"/>
          <p:cNvSpPr txBox="1"/>
          <p:nvPr/>
        </p:nvSpPr>
        <p:spPr>
          <a:xfrm>
            <a:off x="4480560" y="1828800"/>
            <a:ext cx="3337560" cy="502920"/>
          </a:xfrm>
          <a:prstGeom prst="roundRect">
            <a:avLst>
              <a:gd name="adj" fmla="val 18182"/>
            </a:avLst>
          </a:prstGeom>
          <a:solidFill>
            <a:srgbClr val="FFF1CC"/>
          </a:solidFill>
          <a:ln w="12700">
            <a:solidFill>
              <a:schemeClr val="accent3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尚未完成 / 未驗證</a:t>
            </a:r>
            <a:endParaRPr lang="en-US" sz="1600" dirty="0"/>
          </a:p>
        </p:txBody>
      </p:sp>
      <p:sp>
        <p:nvSpPr>
          <p:cNvPr id="9" name="status list 2"/>
          <p:cNvSpPr txBox="1"/>
          <p:nvPr/>
        </p:nvSpPr>
        <p:spPr>
          <a:xfrm>
            <a:off x="4526280" y="2514600"/>
            <a:ext cx="3246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實體 Build Server 部署(目前為 WSL 模擬)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GitHub Actions CI 與 self-hosted runner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Thales Luna HSM 簽章(尚未開始)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Telink *_nvm、bootloader 合併、DFU 封裝、簽章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Nordic 與原開發機產物比對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Telink SBOM 對 main 分支重新產生</a:t>
            </a:r>
            <a:endParaRPr lang="en-US" sz="1400" dirty="0"/>
          </a:p>
        </p:txBody>
      </p:sp>
      <p:sp>
        <p:nvSpPr>
          <p:cNvPr id="10" name="status card 3"/>
          <p:cNvSpPr/>
          <p:nvPr/>
        </p:nvSpPr>
        <p:spPr>
          <a:xfrm>
            <a:off x="8138160" y="1691640"/>
            <a:ext cx="3611880" cy="45720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11" name="status header"/>
          <p:cNvSpPr txBox="1"/>
          <p:nvPr/>
        </p:nvSpPr>
        <p:spPr>
          <a:xfrm>
            <a:off x="8275320" y="1828800"/>
            <a:ext cx="3337560" cy="502920"/>
          </a:xfrm>
          <a:prstGeom prst="roundRect">
            <a:avLst>
              <a:gd name="adj" fmla="val 18182"/>
            </a:avLst>
          </a:prstGeom>
          <a:solidFill>
            <a:srgbClr val="FBDADA"/>
          </a:solidFill>
          <a:ln w="12700">
            <a:solidFill>
              <a:schemeClr val="accent4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專案問題(需負責人處理)</a:t>
            </a:r>
            <a:endParaRPr lang="en-US" sz="1600" dirty="0"/>
          </a:p>
        </p:txBody>
      </p:sp>
      <p:sp>
        <p:nvSpPr>
          <p:cNvPr id="12" name="status list 3"/>
          <p:cNvSpPr txBox="1"/>
          <p:nvPr/>
        </p:nvSpPr>
        <p:spPr>
          <a:xfrm>
            <a:off x="8321040" y="2514600"/>
            <a:ext cx="3246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金鑰路徑寫死 /home/a/ncs/v3.4.0,換環境編譯失敗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flpr_sensor 的 build_kmu.sh 第一行 cd 到別的專案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補丁檔 clone 後變 CRLF,repo 無 .gitattributes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簽章私鑰被 git 追蹤(依說明為測試金鑰)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build_kmu*.sh 含 west flash 與寫死路徑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CI/CD 時程(預估,非承諾)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整體 P1~P6 樂觀約 6~8 週,HSM 相依延遲可能 10 週以上;P1~P4 約 3~4 週,較可控</a:t>
            </a:r>
            <a:endParaRPr lang="en-US" sz="1600" dirty="0"/>
          </a:p>
        </p:txBody>
      </p:sp>
      <p:sp>
        <p:nvSpPr>
          <p:cNvPr id="4" name="week label"/>
          <p:cNvSpPr txBox="1"/>
          <p:nvPr/>
        </p:nvSpPr>
        <p:spPr>
          <a:xfrm>
            <a:off x="3611880" y="1600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10/19</a:t>
            </a:r>
            <a:endParaRPr lang="en-US" sz="1100" dirty="0"/>
          </a:p>
        </p:txBody>
      </p:sp>
      <p:sp>
        <p:nvSpPr>
          <p:cNvPr id="5" name="grid line"/>
          <p:cNvSpPr/>
          <p:nvPr/>
        </p:nvSpPr>
        <p:spPr>
          <a:xfrm>
            <a:off x="3611880" y="2148840"/>
            <a:ext cx="0" cy="3611880"/>
          </a:xfrm>
          <a:prstGeom prst="line">
            <a:avLst/>
          </a:prstGeom>
          <a:noFill/>
          <a:ln w="12700">
            <a:solidFill>
              <a:srgbClr val="D9DDE4"/>
            </a:solidFill>
            <a:prstDash val="solid"/>
          </a:ln>
        </p:spPr>
      </p:sp>
      <p:sp>
        <p:nvSpPr>
          <p:cNvPr id="6" name="week label"/>
          <p:cNvSpPr txBox="1"/>
          <p:nvPr/>
        </p:nvSpPr>
        <p:spPr>
          <a:xfrm>
            <a:off x="4389120" y="1600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10/26</a:t>
            </a:r>
            <a:endParaRPr lang="en-US" sz="1100" dirty="0"/>
          </a:p>
        </p:txBody>
      </p:sp>
      <p:sp>
        <p:nvSpPr>
          <p:cNvPr id="7" name="grid line"/>
          <p:cNvSpPr/>
          <p:nvPr/>
        </p:nvSpPr>
        <p:spPr>
          <a:xfrm>
            <a:off x="4389120" y="2148840"/>
            <a:ext cx="0" cy="3611880"/>
          </a:xfrm>
          <a:prstGeom prst="line">
            <a:avLst/>
          </a:prstGeom>
          <a:noFill/>
          <a:ln w="12700">
            <a:solidFill>
              <a:srgbClr val="D9DDE4"/>
            </a:solidFill>
            <a:prstDash val="solid"/>
          </a:ln>
        </p:spPr>
      </p:sp>
      <p:sp>
        <p:nvSpPr>
          <p:cNvPr id="8" name="week label"/>
          <p:cNvSpPr txBox="1"/>
          <p:nvPr/>
        </p:nvSpPr>
        <p:spPr>
          <a:xfrm>
            <a:off x="5166360" y="1600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11/2</a:t>
            </a:r>
            <a:endParaRPr lang="en-US" sz="1100" dirty="0"/>
          </a:p>
        </p:txBody>
      </p:sp>
      <p:sp>
        <p:nvSpPr>
          <p:cNvPr id="9" name="grid line"/>
          <p:cNvSpPr/>
          <p:nvPr/>
        </p:nvSpPr>
        <p:spPr>
          <a:xfrm>
            <a:off x="5166360" y="2148840"/>
            <a:ext cx="0" cy="3611880"/>
          </a:xfrm>
          <a:prstGeom prst="line">
            <a:avLst/>
          </a:prstGeom>
          <a:noFill/>
          <a:ln w="12700">
            <a:solidFill>
              <a:srgbClr val="D9DDE4"/>
            </a:solidFill>
            <a:prstDash val="solid"/>
          </a:ln>
        </p:spPr>
      </p:sp>
      <p:sp>
        <p:nvSpPr>
          <p:cNvPr id="10" name="week label"/>
          <p:cNvSpPr txBox="1"/>
          <p:nvPr/>
        </p:nvSpPr>
        <p:spPr>
          <a:xfrm>
            <a:off x="5943600" y="1600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11/9</a:t>
            </a:r>
            <a:endParaRPr lang="en-US" sz="1100" dirty="0"/>
          </a:p>
        </p:txBody>
      </p:sp>
      <p:sp>
        <p:nvSpPr>
          <p:cNvPr id="11" name="grid line"/>
          <p:cNvSpPr/>
          <p:nvPr/>
        </p:nvSpPr>
        <p:spPr>
          <a:xfrm>
            <a:off x="5943600" y="2148840"/>
            <a:ext cx="0" cy="3611880"/>
          </a:xfrm>
          <a:prstGeom prst="line">
            <a:avLst/>
          </a:prstGeom>
          <a:noFill/>
          <a:ln w="12700">
            <a:solidFill>
              <a:srgbClr val="D9DDE4"/>
            </a:solidFill>
            <a:prstDash val="solid"/>
          </a:ln>
        </p:spPr>
      </p:sp>
      <p:sp>
        <p:nvSpPr>
          <p:cNvPr id="12" name="week label"/>
          <p:cNvSpPr txBox="1"/>
          <p:nvPr/>
        </p:nvSpPr>
        <p:spPr>
          <a:xfrm>
            <a:off x="6720840" y="1600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11/16</a:t>
            </a:r>
            <a:endParaRPr lang="en-US" sz="1100" dirty="0"/>
          </a:p>
        </p:txBody>
      </p:sp>
      <p:sp>
        <p:nvSpPr>
          <p:cNvPr id="13" name="grid line"/>
          <p:cNvSpPr/>
          <p:nvPr/>
        </p:nvSpPr>
        <p:spPr>
          <a:xfrm>
            <a:off x="6720840" y="2148840"/>
            <a:ext cx="0" cy="3611880"/>
          </a:xfrm>
          <a:prstGeom prst="line">
            <a:avLst/>
          </a:prstGeom>
          <a:noFill/>
          <a:ln w="12700">
            <a:solidFill>
              <a:srgbClr val="D9DDE4"/>
            </a:solidFill>
            <a:prstDash val="solid"/>
          </a:ln>
        </p:spPr>
      </p:sp>
      <p:sp>
        <p:nvSpPr>
          <p:cNvPr id="14" name="week label"/>
          <p:cNvSpPr txBox="1"/>
          <p:nvPr/>
        </p:nvSpPr>
        <p:spPr>
          <a:xfrm>
            <a:off x="7498080" y="1600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11/23</a:t>
            </a:r>
            <a:endParaRPr lang="en-US" sz="1100" dirty="0"/>
          </a:p>
        </p:txBody>
      </p:sp>
      <p:sp>
        <p:nvSpPr>
          <p:cNvPr id="15" name="grid line"/>
          <p:cNvSpPr/>
          <p:nvPr/>
        </p:nvSpPr>
        <p:spPr>
          <a:xfrm>
            <a:off x="7498080" y="2148840"/>
            <a:ext cx="0" cy="3611880"/>
          </a:xfrm>
          <a:prstGeom prst="line">
            <a:avLst/>
          </a:prstGeom>
          <a:noFill/>
          <a:ln w="12700">
            <a:solidFill>
              <a:srgbClr val="D9DDE4"/>
            </a:solidFill>
            <a:prstDash val="solid"/>
          </a:ln>
        </p:spPr>
      </p:sp>
      <p:sp>
        <p:nvSpPr>
          <p:cNvPr id="16" name="week label"/>
          <p:cNvSpPr txBox="1"/>
          <p:nvPr/>
        </p:nvSpPr>
        <p:spPr>
          <a:xfrm>
            <a:off x="8275320" y="1600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11/30</a:t>
            </a:r>
            <a:endParaRPr lang="en-US" sz="1100" dirty="0"/>
          </a:p>
        </p:txBody>
      </p:sp>
      <p:sp>
        <p:nvSpPr>
          <p:cNvPr id="17" name="grid line"/>
          <p:cNvSpPr/>
          <p:nvPr/>
        </p:nvSpPr>
        <p:spPr>
          <a:xfrm>
            <a:off x="8275320" y="2148840"/>
            <a:ext cx="0" cy="3611880"/>
          </a:xfrm>
          <a:prstGeom prst="line">
            <a:avLst/>
          </a:prstGeom>
          <a:noFill/>
          <a:ln w="12700">
            <a:solidFill>
              <a:srgbClr val="D9DDE4"/>
            </a:solidFill>
            <a:prstDash val="solid"/>
          </a:ln>
        </p:spPr>
      </p:sp>
      <p:sp>
        <p:nvSpPr>
          <p:cNvPr id="18" name="week label"/>
          <p:cNvSpPr txBox="1"/>
          <p:nvPr/>
        </p:nvSpPr>
        <p:spPr>
          <a:xfrm>
            <a:off x="9052560" y="1600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12/7</a:t>
            </a:r>
            <a:endParaRPr lang="en-US" sz="1100" dirty="0"/>
          </a:p>
        </p:txBody>
      </p:sp>
      <p:sp>
        <p:nvSpPr>
          <p:cNvPr id="19" name="grid line"/>
          <p:cNvSpPr/>
          <p:nvPr/>
        </p:nvSpPr>
        <p:spPr>
          <a:xfrm>
            <a:off x="9052560" y="2148840"/>
            <a:ext cx="0" cy="3611880"/>
          </a:xfrm>
          <a:prstGeom prst="line">
            <a:avLst/>
          </a:prstGeom>
          <a:noFill/>
          <a:ln w="12700">
            <a:solidFill>
              <a:srgbClr val="D9DDE4"/>
            </a:solidFill>
            <a:prstDash val="solid"/>
          </a:ln>
        </p:spPr>
      </p:sp>
      <p:sp>
        <p:nvSpPr>
          <p:cNvPr id="20" name="week label"/>
          <p:cNvSpPr txBox="1"/>
          <p:nvPr/>
        </p:nvSpPr>
        <p:spPr>
          <a:xfrm>
            <a:off x="9829800" y="1600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W9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12/14</a:t>
            </a:r>
            <a:endParaRPr lang="en-US" sz="1100" dirty="0"/>
          </a:p>
        </p:txBody>
      </p:sp>
      <p:sp>
        <p:nvSpPr>
          <p:cNvPr id="21" name="grid line"/>
          <p:cNvSpPr/>
          <p:nvPr/>
        </p:nvSpPr>
        <p:spPr>
          <a:xfrm>
            <a:off x="9829800" y="2148840"/>
            <a:ext cx="0" cy="3611880"/>
          </a:xfrm>
          <a:prstGeom prst="line">
            <a:avLst/>
          </a:prstGeom>
          <a:noFill/>
          <a:ln w="12700">
            <a:solidFill>
              <a:srgbClr val="D9DDE4"/>
            </a:solidFill>
            <a:prstDash val="solid"/>
          </a:ln>
        </p:spPr>
      </p:sp>
      <p:sp>
        <p:nvSpPr>
          <p:cNvPr id="22" name="week label"/>
          <p:cNvSpPr txBox="1"/>
          <p:nvPr/>
        </p:nvSpPr>
        <p:spPr>
          <a:xfrm>
            <a:off x="10607040" y="1600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12/21</a:t>
            </a:r>
            <a:endParaRPr lang="en-US" sz="1100" dirty="0"/>
          </a:p>
        </p:txBody>
      </p:sp>
      <p:sp>
        <p:nvSpPr>
          <p:cNvPr id="23" name="grid line"/>
          <p:cNvSpPr/>
          <p:nvPr/>
        </p:nvSpPr>
        <p:spPr>
          <a:xfrm>
            <a:off x="10607040" y="2148840"/>
            <a:ext cx="0" cy="3611880"/>
          </a:xfrm>
          <a:prstGeom prst="line">
            <a:avLst/>
          </a:prstGeom>
          <a:noFill/>
          <a:ln w="12700">
            <a:solidFill>
              <a:srgbClr val="D9DDE4"/>
            </a:solidFill>
            <a:prstDash val="solid"/>
          </a:ln>
        </p:spPr>
      </p:sp>
      <p:sp>
        <p:nvSpPr>
          <p:cNvPr id="24" name="grid line"/>
          <p:cNvSpPr/>
          <p:nvPr/>
        </p:nvSpPr>
        <p:spPr>
          <a:xfrm>
            <a:off x="11384280" y="2148840"/>
            <a:ext cx="0" cy="3611880"/>
          </a:xfrm>
          <a:prstGeom prst="line">
            <a:avLst/>
          </a:prstGeom>
          <a:noFill/>
          <a:ln w="12700">
            <a:solidFill>
              <a:srgbClr val="D9DDE4"/>
            </a:solidFill>
            <a:prstDash val="solid"/>
          </a:ln>
        </p:spPr>
      </p:sp>
      <p:sp>
        <p:nvSpPr>
          <p:cNvPr id="25" name="phase name"/>
          <p:cNvSpPr txBox="1"/>
          <p:nvPr/>
        </p:nvSpPr>
        <p:spPr>
          <a:xfrm>
            <a:off x="548640" y="2221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P0 容器化</a:t>
            </a:r>
            <a:endParaRPr lang="en-US" sz="1400" dirty="0"/>
          </a:p>
        </p:txBody>
      </p:sp>
      <p:sp>
        <p:nvSpPr>
          <p:cNvPr id="26" name="phase done"/>
          <p:cNvSpPr txBox="1"/>
          <p:nvPr/>
        </p:nvSpPr>
        <p:spPr>
          <a:xfrm>
            <a:off x="3703320" y="2221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已完成</a:t>
            </a:r>
            <a:endParaRPr lang="en-US" sz="1400" dirty="0"/>
          </a:p>
        </p:txBody>
      </p:sp>
      <p:sp>
        <p:nvSpPr>
          <p:cNvPr id="27" name="phase name"/>
          <p:cNvSpPr txBox="1"/>
          <p:nvPr/>
        </p:nvSpPr>
        <p:spPr>
          <a:xfrm>
            <a:off x="548640" y="27249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P1 實體 Build Server 部署</a:t>
            </a:r>
            <a:endParaRPr lang="en-US" sz="1400" dirty="0"/>
          </a:p>
        </p:txBody>
      </p:sp>
      <p:sp>
        <p:nvSpPr>
          <p:cNvPr id="28" name="P1 實體 Build Server 部署 bar"/>
          <p:cNvSpPr/>
          <p:nvPr/>
        </p:nvSpPr>
        <p:spPr>
          <a:xfrm>
            <a:off x="3611880" y="2724912"/>
            <a:ext cx="466344" cy="36576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duration"/>
          <p:cNvSpPr txBox="1"/>
          <p:nvPr/>
        </p:nvSpPr>
        <p:spPr>
          <a:xfrm>
            <a:off x="4169664" y="27249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2~3 天</a:t>
            </a:r>
            <a:endParaRPr lang="en-US" sz="1200" dirty="0"/>
          </a:p>
        </p:txBody>
      </p:sp>
      <p:sp>
        <p:nvSpPr>
          <p:cNvPr id="30" name="phase name"/>
          <p:cNvSpPr txBox="1"/>
          <p:nvPr/>
        </p:nvSpPr>
        <p:spPr>
          <a:xfrm>
            <a:off x="548640" y="3227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P2 專案端修正</a:t>
            </a:r>
            <a:endParaRPr lang="en-US" sz="1400" dirty="0"/>
          </a:p>
        </p:txBody>
      </p:sp>
      <p:sp>
        <p:nvSpPr>
          <p:cNvPr id="31" name="P2 專案端修正 bar"/>
          <p:cNvSpPr/>
          <p:nvPr/>
        </p:nvSpPr>
        <p:spPr>
          <a:xfrm>
            <a:off x="4078224" y="3227832"/>
            <a:ext cx="777240" cy="36576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duration"/>
          <p:cNvSpPr txBox="1"/>
          <p:nvPr/>
        </p:nvSpPr>
        <p:spPr>
          <a:xfrm>
            <a:off x="4946904" y="3227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3~5 天</a:t>
            </a:r>
            <a:endParaRPr lang="en-US" sz="1200" dirty="0"/>
          </a:p>
        </p:txBody>
      </p:sp>
      <p:sp>
        <p:nvSpPr>
          <p:cNvPr id="33" name="phase name"/>
          <p:cNvSpPr txBox="1"/>
          <p:nvPr/>
        </p:nvSpPr>
        <p:spPr>
          <a:xfrm>
            <a:off x="548640" y="37307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P3 GitHub Actions(無簽章)</a:t>
            </a:r>
            <a:endParaRPr lang="en-US" sz="1400" dirty="0"/>
          </a:p>
        </p:txBody>
      </p:sp>
      <p:sp>
        <p:nvSpPr>
          <p:cNvPr id="34" name="P3 GitHub Actions(無簽章) bar"/>
          <p:cNvSpPr/>
          <p:nvPr/>
        </p:nvSpPr>
        <p:spPr>
          <a:xfrm>
            <a:off x="4078224" y="3730752"/>
            <a:ext cx="777240" cy="36576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duration"/>
          <p:cNvSpPr txBox="1"/>
          <p:nvPr/>
        </p:nvSpPr>
        <p:spPr>
          <a:xfrm>
            <a:off x="4946904" y="3730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約 1 週</a:t>
            </a:r>
            <a:endParaRPr lang="en-US" sz="1200" dirty="0"/>
          </a:p>
        </p:txBody>
      </p:sp>
      <p:sp>
        <p:nvSpPr>
          <p:cNvPr id="36" name="phase name"/>
          <p:cNvSpPr txBox="1"/>
          <p:nvPr/>
        </p:nvSpPr>
        <p:spPr>
          <a:xfrm>
            <a:off x="548640" y="42336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P4 金鑰處理升級</a:t>
            </a:r>
            <a:endParaRPr lang="en-US" sz="1400" dirty="0"/>
          </a:p>
        </p:txBody>
      </p:sp>
      <p:sp>
        <p:nvSpPr>
          <p:cNvPr id="37" name="P4 金鑰處理升級 bar"/>
          <p:cNvSpPr/>
          <p:nvPr/>
        </p:nvSpPr>
        <p:spPr>
          <a:xfrm>
            <a:off x="4855464" y="4233672"/>
            <a:ext cx="777240" cy="36576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duration"/>
          <p:cNvSpPr txBox="1"/>
          <p:nvPr/>
        </p:nvSpPr>
        <p:spPr>
          <a:xfrm>
            <a:off x="5724144" y="4233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3~5 天</a:t>
            </a:r>
            <a:endParaRPr lang="en-US" sz="1200" dirty="0"/>
          </a:p>
        </p:txBody>
      </p:sp>
      <p:sp>
        <p:nvSpPr>
          <p:cNvPr id="39" name="phase name"/>
          <p:cNvSpPr txBox="1"/>
          <p:nvPr/>
        </p:nvSpPr>
        <p:spPr>
          <a:xfrm>
            <a:off x="548640" y="4736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P5 HSM 簽章 PoC</a:t>
            </a:r>
            <a:endParaRPr lang="en-US" sz="1400" dirty="0"/>
          </a:p>
        </p:txBody>
      </p:sp>
      <p:sp>
        <p:nvSpPr>
          <p:cNvPr id="40" name="P5 bar"/>
          <p:cNvSpPr txBox="1"/>
          <p:nvPr/>
        </p:nvSpPr>
        <p:spPr>
          <a:xfrm>
            <a:off x="4855464" y="4736592"/>
            <a:ext cx="1554480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最樂觀 2 週</a:t>
            </a:r>
            <a:endParaRPr lang="en-US" sz="1100" dirty="0"/>
          </a:p>
        </p:txBody>
      </p:sp>
      <p:sp>
        <p:nvSpPr>
          <p:cNvPr id="41" name="P5 extension"/>
          <p:cNvSpPr txBox="1"/>
          <p:nvPr/>
        </p:nvSpPr>
        <p:spPr>
          <a:xfrm>
            <a:off x="6409944" y="4736592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BDADA"/>
          </a:solidFill>
          <a:ln w="19050">
            <a:solidFill>
              <a:schemeClr val="accent4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延長情境至 4 週</a:t>
            </a:r>
            <a:endParaRPr lang="en-US" sz="1100" dirty="0"/>
          </a:p>
        </p:txBody>
      </p:sp>
      <p:sp>
        <p:nvSpPr>
          <p:cNvPr id="42" name="duration"/>
          <p:cNvSpPr txBox="1"/>
          <p:nvPr/>
        </p:nvSpPr>
        <p:spPr>
          <a:xfrm>
            <a:off x="8055864" y="47365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2~4 週,不確定性高</a:t>
            </a:r>
            <a:endParaRPr lang="en-US" sz="1200" dirty="0"/>
          </a:p>
        </p:txBody>
      </p:sp>
      <p:sp>
        <p:nvSpPr>
          <p:cNvPr id="43" name="phase name"/>
          <p:cNvSpPr txBox="1"/>
          <p:nvPr/>
        </p:nvSpPr>
        <p:spPr>
          <a:xfrm>
            <a:off x="548640" y="52395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P6 CI 整合與文件</a:t>
            </a:r>
            <a:endParaRPr lang="en-US" sz="1400" dirty="0"/>
          </a:p>
        </p:txBody>
      </p:sp>
      <p:sp>
        <p:nvSpPr>
          <p:cNvPr id="44" name="P6 CI 整合與文件 bar"/>
          <p:cNvSpPr/>
          <p:nvPr/>
        </p:nvSpPr>
        <p:spPr>
          <a:xfrm>
            <a:off x="7964424" y="5239512"/>
            <a:ext cx="777240" cy="36576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5" name="duration"/>
          <p:cNvSpPr txBox="1"/>
          <p:nvPr/>
        </p:nvSpPr>
        <p:spPr>
          <a:xfrm>
            <a:off x="8833104" y="5239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約 1 週</a:t>
            </a:r>
            <a:endParaRPr lang="en-US" sz="1200" dirty="0"/>
          </a:p>
        </p:txBody>
      </p:sp>
      <p:sp>
        <p:nvSpPr>
          <p:cNvPr id="46" name="assumptions"/>
          <p:cNvSpPr txBox="1"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FF1CC"/>
          </a:solidFill>
          <a:ln w="15875">
            <a:solidFill>
              <a:schemeClr val="accent3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假設:Build Server 與網路權限在第 1 週內取得;HSM 帳號、用戶端軟體、網路由資安/IT 提供;人力 1 位工程師為主。圖中起始日期僅為示意。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在 Build Server 使用 LLM CLI 的評估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本次作業就是由 LLM CLI 協助完成;最終是否採用應由資安與法務確認</a:t>
            </a:r>
            <a:endParaRPr lang="en-US" sz="1600" dirty="0"/>
          </a:p>
        </p:txBody>
      </p:sp>
      <p:sp>
        <p:nvSpPr>
          <p:cNvPr id="4" name="llm card 1"/>
          <p:cNvSpPr/>
          <p:nvPr/>
        </p:nvSpPr>
        <p:spPr>
          <a:xfrm>
            <a:off x="548640" y="1691640"/>
            <a:ext cx="54406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5" name="llm header"/>
          <p:cNvSpPr txBox="1"/>
          <p:nvPr/>
        </p:nvSpPr>
        <p:spPr>
          <a:xfrm>
            <a:off x="685800" y="1828800"/>
            <a:ext cx="5166360" cy="457200"/>
          </a:xfrm>
          <a:prstGeom prst="roundRect">
            <a:avLst>
              <a:gd name="adj" fmla="val 20000"/>
            </a:avLst>
          </a:prstGeom>
          <a:solidFill>
            <a:srgbClr val="DDF3E4"/>
          </a:solidFill>
          <a:ln w="12700">
            <a:solidFill>
              <a:schemeClr val="accent2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Pros</a:t>
            </a:r>
            <a:endParaRPr lang="en-US" sz="1600" dirty="0"/>
          </a:p>
        </p:txBody>
      </p:sp>
      <p:sp>
        <p:nvSpPr>
          <p:cNvPr id="6" name="llm list 1"/>
          <p:cNvSpPr txBox="1"/>
          <p:nvPr/>
        </p:nvSpPr>
        <p:spPr>
          <a:xfrm>
            <a:off x="777240" y="2468880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縮短診斷:快速讀長記錄找根因(寫死路徑、CRLF 補丁、錯誤的 cd)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加速撰寫維運腳本與文件(安裝、編譯包裝、README、SBOM 產生器)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加速探索不熟悉的工具鏈與版本需求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降低「只有一個人懂」的風險:流程變成腳本與文件</a:t>
            </a:r>
            <a:endParaRPr lang="en-US" sz="1400" dirty="0"/>
          </a:p>
        </p:txBody>
      </p:sp>
      <p:sp>
        <p:nvSpPr>
          <p:cNvPr id="7" name="llm card 2"/>
          <p:cNvSpPr/>
          <p:nvPr/>
        </p:nvSpPr>
        <p:spPr>
          <a:xfrm>
            <a:off x="6172200" y="1691640"/>
            <a:ext cx="54406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8" name="llm header"/>
          <p:cNvSpPr txBox="1"/>
          <p:nvPr/>
        </p:nvSpPr>
        <p:spPr>
          <a:xfrm>
            <a:off x="6309360" y="1828800"/>
            <a:ext cx="5166360" cy="457200"/>
          </a:xfrm>
          <a:prstGeom prst="roundRect">
            <a:avLst>
              <a:gd name="adj" fmla="val 20000"/>
            </a:avLst>
          </a:prstGeom>
          <a:solidFill>
            <a:srgbClr val="FBDADA"/>
          </a:solidFill>
          <a:ln w="12700">
            <a:solidFill>
              <a:schemeClr val="accent4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 / 風險</a:t>
            </a:r>
            <a:endParaRPr lang="en-US" sz="1600" dirty="0"/>
          </a:p>
        </p:txBody>
      </p:sp>
      <p:sp>
        <p:nvSpPr>
          <p:cNvPr id="9" name="llm list 2"/>
          <p:cNvSpPr txBox="1"/>
          <p:nvPr/>
        </p:nvSpPr>
        <p:spPr>
          <a:xfrm>
            <a:off x="6400800" y="2468880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高:原始碼與資料外送到外部服務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高:能執行 shell 的 AI 在持有簽章金鑰或 HSM 的機器上,攻擊面大增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高:repo、記錄、PR 內容可能夾帶提示注入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高:結果非確定性,不適合可稽核、需可重現的簽章/發佈路徑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中:仍需人工複核、稽核合規、成本授權、對外連線、供應鏈</a:t>
            </a:r>
            <a:endParaRPr lang="en-US" sz="1400" dirty="0"/>
          </a:p>
        </p:txBody>
      </p:sp>
      <p:sp>
        <p:nvSpPr>
          <p:cNvPr id="10" name="recommendation"/>
          <p:cNvSpPr txBox="1"/>
          <p:nvPr/>
        </p:nvSpPr>
        <p:spPr>
          <a:xfrm>
            <a:off x="548640" y="512064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0F1B2D"/>
          </a:solidFill>
          <a:ln>
            <a:solidFill>
              <a:srgbClr val="0F1B2D"/>
            </a:solidFill>
          </a:ln>
        </p:spPr>
        <p:txBody>
          <a:bodyPr wrap="square" lIns="228600" tIns="228600" rIns="228600" bIns="2286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建議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3E9F3"/>
                </a:solidFill>
              </a:rPr>
              <a:t>不建議裝在正式 Build / 簽章機器。改設隔離的開發/診斷環境,只匯入去識別化的記錄與腳本,不給金鑰、HSM、正式 repo 寫入權限。若要試用:先做唯讀 pilot 2~4 週,網路出口限定、操作留稽核記錄、每個動作由人核准。簽章、Release、HSM 操作絕不放入。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需要主管決策或協助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對應報告第 6 節;紅色者對時程影響最大</a:t>
            </a:r>
            <a:endParaRPr lang="en-US" sz="1600" dirty="0"/>
          </a:p>
        </p:txBody>
      </p:sp>
      <p:sp>
        <p:nvSpPr>
          <p:cNvPr id="4" name="decision row 1"/>
          <p:cNvSpPr/>
          <p:nvPr/>
        </p:nvSpPr>
        <p:spPr>
          <a:xfrm>
            <a:off x="548640" y="169164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5" name="decision number"/>
          <p:cNvSpPr txBox="1"/>
          <p:nvPr/>
        </p:nvSpPr>
        <p:spPr>
          <a:xfrm>
            <a:off x="713232" y="1783080"/>
            <a:ext cx="384048" cy="38404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decision item"/>
          <p:cNvSpPr txBox="1"/>
          <p:nvPr/>
        </p:nvSpPr>
        <p:spPr>
          <a:xfrm>
            <a:off x="1280160" y="16916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實體 Build Server 的帳號、網路與磁碟配置</a:t>
            </a:r>
            <a:endParaRPr lang="en-US" sz="1400" dirty="0"/>
          </a:p>
        </p:txBody>
      </p:sp>
      <p:sp>
        <p:nvSpPr>
          <p:cNvPr id="7" name="decision reason"/>
          <p:cNvSpPr txBox="1"/>
          <p:nvPr/>
        </p:nvSpPr>
        <p:spPr>
          <a:xfrm>
            <a:off x="8001000" y="16916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P1 的前提</a:t>
            </a:r>
            <a:endParaRPr lang="en-US" sz="1300" dirty="0"/>
          </a:p>
        </p:txBody>
      </p:sp>
      <p:sp>
        <p:nvSpPr>
          <p:cNvPr id="8" name="decision row 2"/>
          <p:cNvSpPr/>
          <p:nvPr/>
        </p:nvSpPr>
        <p:spPr>
          <a:xfrm>
            <a:off x="548640" y="2350008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9" name="decision number"/>
          <p:cNvSpPr txBox="1"/>
          <p:nvPr/>
        </p:nvSpPr>
        <p:spPr>
          <a:xfrm>
            <a:off x="713232" y="2441448"/>
            <a:ext cx="384048" cy="38404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decision item"/>
          <p:cNvSpPr txBox="1"/>
          <p:nvPr/>
        </p:nvSpPr>
        <p:spPr>
          <a:xfrm>
            <a:off x="1280160" y="235000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Thales Luna HSM A700 的存取(分區、用戶端軟體授權、網路、窗口)</a:t>
            </a:r>
            <a:endParaRPr lang="en-US" sz="1400" dirty="0"/>
          </a:p>
        </p:txBody>
      </p:sp>
      <p:sp>
        <p:nvSpPr>
          <p:cNvPr id="11" name="decision reason"/>
          <p:cNvSpPr txBox="1"/>
          <p:nvPr/>
        </p:nvSpPr>
        <p:spPr>
          <a:xfrm>
            <a:off x="8001000" y="235000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P5 的前提,時程最大變數</a:t>
            </a:r>
            <a:endParaRPr lang="en-US" sz="1300" dirty="0"/>
          </a:p>
        </p:txBody>
      </p:sp>
      <p:sp>
        <p:nvSpPr>
          <p:cNvPr id="12" name="decision row 3"/>
          <p:cNvSpPr/>
          <p:nvPr/>
        </p:nvSpPr>
        <p:spPr>
          <a:xfrm>
            <a:off x="548640" y="3008376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13" name="decision number"/>
          <p:cNvSpPr txBox="1"/>
          <p:nvPr/>
        </p:nvSpPr>
        <p:spPr>
          <a:xfrm>
            <a:off x="713232" y="3099816"/>
            <a:ext cx="384048" cy="38404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decision item"/>
          <p:cNvSpPr txBox="1"/>
          <p:nvPr/>
        </p:nvSpPr>
        <p:spPr>
          <a:xfrm>
            <a:off x="1280160" y="300837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self-hosted runner 的資安核可</a:t>
            </a:r>
            <a:endParaRPr lang="en-US" sz="1400" dirty="0"/>
          </a:p>
        </p:txBody>
      </p:sp>
      <p:sp>
        <p:nvSpPr>
          <p:cNvPr id="15" name="decision reason"/>
          <p:cNvSpPr txBox="1"/>
          <p:nvPr/>
        </p:nvSpPr>
        <p:spPr>
          <a:xfrm>
            <a:off x="8001000" y="300837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P3 的前提;runner 與金鑰同機的風險</a:t>
            </a:r>
            <a:endParaRPr lang="en-US" sz="1300" dirty="0"/>
          </a:p>
        </p:txBody>
      </p:sp>
      <p:sp>
        <p:nvSpPr>
          <p:cNvPr id="16" name="decision row 4"/>
          <p:cNvSpPr/>
          <p:nvPr/>
        </p:nvSpPr>
        <p:spPr>
          <a:xfrm>
            <a:off x="548640" y="3666744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17" name="decision number"/>
          <p:cNvSpPr txBox="1"/>
          <p:nvPr/>
        </p:nvSpPr>
        <p:spPr>
          <a:xfrm>
            <a:off x="713232" y="3758184"/>
            <a:ext cx="384048" cy="38404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decision item"/>
          <p:cNvSpPr txBox="1"/>
          <p:nvPr/>
        </p:nvSpPr>
        <p:spPr>
          <a:xfrm>
            <a:off x="1280160" y="366674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簽章金鑰的性質:repo 內的是否都是測試金鑰?</a:t>
            </a:r>
            <a:endParaRPr lang="en-US" sz="1400" dirty="0"/>
          </a:p>
        </p:txBody>
      </p:sp>
      <p:sp>
        <p:nvSpPr>
          <p:cNvPr id="19" name="decision reason"/>
          <p:cNvSpPr txBox="1"/>
          <p:nvPr/>
        </p:nvSpPr>
        <p:spPr>
          <a:xfrm>
            <a:off x="8001000" y="366674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決定是否需立即處理金鑰洩漏風險</a:t>
            </a:r>
            <a:endParaRPr lang="en-US" sz="1300" dirty="0"/>
          </a:p>
        </p:txBody>
      </p:sp>
      <p:sp>
        <p:nvSpPr>
          <p:cNvPr id="20" name="decision row 5"/>
          <p:cNvSpPr/>
          <p:nvPr/>
        </p:nvSpPr>
        <p:spPr>
          <a:xfrm>
            <a:off x="548640" y="4325112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21" name="decision number"/>
          <p:cNvSpPr txBox="1"/>
          <p:nvPr/>
        </p:nvSpPr>
        <p:spPr>
          <a:xfrm>
            <a:off x="713232" y="4416552"/>
            <a:ext cx="384048" cy="38404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decision item"/>
          <p:cNvSpPr txBox="1"/>
          <p:nvPr/>
        </p:nvSpPr>
        <p:spPr>
          <a:xfrm>
            <a:off x="1280160" y="432511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Telink 的 linux_* makefile 如何進版控(或保留一台 Windows runner)</a:t>
            </a:r>
            <a:endParaRPr lang="en-US" sz="1400" dirty="0"/>
          </a:p>
        </p:txBody>
      </p:sp>
      <p:sp>
        <p:nvSpPr>
          <p:cNvPr id="23" name="decision reason"/>
          <p:cNvSpPr txBox="1"/>
          <p:nvPr/>
        </p:nvSpPr>
        <p:spPr>
          <a:xfrm>
            <a:off x="8001000" y="432511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決定 Telink CI 的做法</a:t>
            </a:r>
            <a:endParaRPr lang="en-US" sz="1300" dirty="0"/>
          </a:p>
        </p:txBody>
      </p:sp>
      <p:sp>
        <p:nvSpPr>
          <p:cNvPr id="24" name="decision row 6"/>
          <p:cNvSpPr/>
          <p:nvPr/>
        </p:nvSpPr>
        <p:spPr>
          <a:xfrm>
            <a:off x="548640" y="498348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25" name="decision number"/>
          <p:cNvSpPr txBox="1"/>
          <p:nvPr/>
        </p:nvSpPr>
        <p:spPr>
          <a:xfrm>
            <a:off x="713232" y="5074920"/>
            <a:ext cx="384048" cy="38404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decision item"/>
          <p:cNvSpPr txBox="1"/>
          <p:nvPr/>
        </p:nvSpPr>
        <p:spPr>
          <a:xfrm>
            <a:off x="1280160" y="498348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LLM CLI 是否、在哪個環境、以何種權限導入</a:t>
            </a:r>
            <a:endParaRPr lang="en-US" sz="1400" dirty="0"/>
          </a:p>
        </p:txBody>
      </p:sp>
      <p:sp>
        <p:nvSpPr>
          <p:cNvPr id="27" name="decision reason"/>
          <p:cNvSpPr txBox="1"/>
          <p:nvPr/>
        </p:nvSpPr>
        <p:spPr>
          <a:xfrm>
            <a:off x="8001000" y="49834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見前一頁評估</a:t>
            </a:r>
            <a:endParaRPr lang="en-US" sz="1300" dirty="0"/>
          </a:p>
        </p:txBody>
      </p:sp>
      <p:sp>
        <p:nvSpPr>
          <p:cNvPr id="28" name="decision row 7"/>
          <p:cNvSpPr/>
          <p:nvPr/>
        </p:nvSpPr>
        <p:spPr>
          <a:xfrm>
            <a:off x="548640" y="5641848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8000"/>
              </a:srgbClr>
            </a:outerShdw>
          </a:effectLst>
        </p:spPr>
      </p:sp>
      <p:sp>
        <p:nvSpPr>
          <p:cNvPr id="29" name="decision number"/>
          <p:cNvSpPr txBox="1"/>
          <p:nvPr/>
        </p:nvSpPr>
        <p:spPr>
          <a:xfrm>
            <a:off x="713232" y="5733288"/>
            <a:ext cx="384048" cy="38404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0" name="decision item"/>
          <p:cNvSpPr txBox="1"/>
          <p:nvPr/>
        </p:nvSpPr>
        <p:spPr>
          <a:xfrm>
            <a:off x="1280160" y="564184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專案端是否同意修正 5 項專案問題</a:t>
            </a:r>
            <a:endParaRPr lang="en-US" sz="1400" dirty="0"/>
          </a:p>
        </p:txBody>
      </p:sp>
      <p:sp>
        <p:nvSpPr>
          <p:cNvPr id="31" name="decision reason"/>
          <p:cNvSpPr txBox="1"/>
          <p:nvPr/>
        </p:nvSpPr>
        <p:spPr>
          <a:xfrm>
            <a:off x="8001000" y="56418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P2 的前提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ildServerStatus">
  <a:themeElements>
    <a:clrScheme name="BuildServerStatus">
      <a:dk1>
        <a:srgbClr val="0F1B2D"/>
      </a:dk1>
      <a:lt1>
        <a:srgbClr val="FFFFFF"/>
      </a:lt1>
      <a:dk2>
        <a:srgbClr val="5B6577"/>
      </a:dk2>
      <a:lt2>
        <a:srgbClr val="F6F7F9"/>
      </a:lt2>
      <a:accent1>
        <a:srgbClr val="2F6FED"/>
      </a:accent1>
      <a:accent2>
        <a:srgbClr val="2E9E5B"/>
      </a:accent2>
      <a:accent3>
        <a:srgbClr val="E0A100"/>
      </a:accent3>
      <a:accent4>
        <a:srgbClr val="D64545"/>
      </a:accent4>
      <a:accent5>
        <a:srgbClr val="7A4FE0"/>
      </a:accent5>
      <a:accent6>
        <a:srgbClr val="8FA3C2"/>
      </a:accent6>
      <a:hlink>
        <a:srgbClr val="2F6FED"/>
      </a:hlink>
      <a:folHlink>
        <a:srgbClr val="7A4FE0"/>
      </a:folHlink>
    </a:clrScheme>
    <a:fontScheme name="BuildServerStatus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Server 容器化編譯環境 狀態報告</dc:title>
  <dc:subject>PptxGenJS Presentation</dc:subject>
  <dc:creator>Build Server CI/CD</dc:creator>
  <cp:lastModifiedBy>Build Server CI/CD</cp:lastModifiedBy>
  <cp:revision>1</cp:revision>
  <dcterms:created xsi:type="dcterms:W3CDTF">2026-10-17T03:54:03Z</dcterms:created>
  <dcterms:modified xsi:type="dcterms:W3CDTF">2026-10-17T03:54:03Z</dcterms:modified>
</cp:coreProperties>
</file>